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Inter" panose="02000503000000020004"/>
      <p:regular r:id="rId27"/>
    </p:embeddedFont>
    <p:embeddedFont>
      <p:font typeface="Inter Bold" panose="02000503000000020004"/>
      <p:regular r:id="rId28"/>
      <p:bold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980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4.jpe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35821"/>
            <a:ext cx="6296860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11: Building a Secure Login System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61475" y="3819674"/>
            <a:ext cx="629686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Protecting Your Application — Full Stack Bootcamp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204593"/>
            <a:ext cx="6296860" cy="836712"/>
          </a:xfrm>
          <a:prstGeom prst="roundRect">
            <a:avLst>
              <a:gd name="adj" fmla="val 2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0299" y="4353421"/>
            <a:ext cx="59992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🛠️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Format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0299" y="4666258"/>
            <a:ext cx="599921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Workshop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5175250"/>
            <a:ext cx="6296860" cy="836712"/>
          </a:xfrm>
          <a:prstGeom prst="roundRect">
            <a:avLst>
              <a:gd name="adj" fmla="val 2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10299" y="5324078"/>
            <a:ext cx="59992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Goal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0299" y="5636915"/>
            <a:ext cx="599921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Your App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BFF02B-AA2A-4701-69DA-67BD87261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668413"/>
            <a:ext cx="3783452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1522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OPENING HOOK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706066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 </a:t>
            </a:r>
            <a:r>
              <a:rPr lang="en-US" sz="325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Anyone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Access Your Student Management System?</a:t>
            </a:r>
            <a:endParaRPr lang="en-US" sz="3250" dirty="0"/>
          </a:p>
        </p:txBody>
      </p:sp>
      <p:sp>
        <p:nvSpPr>
          <p:cNvPr id="4" name="Shape 2"/>
          <p:cNvSpPr/>
          <p:nvPr/>
        </p:nvSpPr>
        <p:spPr>
          <a:xfrm>
            <a:off x="661475" y="3173611"/>
            <a:ext cx="2533686" cy="1592659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5819" y="3357959"/>
            <a:ext cx="216499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Person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3788073"/>
            <a:ext cx="21649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 browser → types your URL → lands directly on the Dashboard.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0455" y="3173611"/>
            <a:ext cx="2533686" cy="1592659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4799" y="3357959"/>
            <a:ext cx="216499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Person 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44799" y="3788073"/>
            <a:ext cx="21649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account. No password. Same result — full access to all student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3904" y="3173611"/>
            <a:ext cx="5232666" cy="1174055"/>
          </a:xfrm>
          <a:prstGeom prst="roundRect">
            <a:avLst>
              <a:gd name="adj" fmla="val 2113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3426023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41160" y="3363714"/>
            <a:ext cx="45301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every person on the internet have access to your Student Management System? Right now… they probably do. Let's fix that today.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3904" y="4533702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app works — but it's wide open. Any anonymous user can view, edit, or delete student records. Today we close that door, build a login system, and protect every page behind a session.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6DFAC-13B0-A11D-8FB4-028ABAD51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602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TODAY'S MISSION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82056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We're Building Today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258534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end of this session, your Student Management System will be fully protected by a real login system. Here's the complete feature set we'll ship together.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300611"/>
            <a:ext cx="1127295" cy="696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203998"/>
            <a:ext cx="256216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Login Page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475" y="4568031"/>
            <a:ext cx="256216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polished Bootstrap login form with email and password fields.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03" y="3300611"/>
            <a:ext cx="1127295" cy="696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30303" y="4203998"/>
            <a:ext cx="256216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Protected Dashboard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30303" y="4568031"/>
            <a:ext cx="256216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only loads if the user is authenticated via session.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132" y="3300611"/>
            <a:ext cx="1127295" cy="6967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9132" y="4203998"/>
            <a:ext cx="256216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👋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Welcome User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199132" y="4568031"/>
            <a:ext cx="256216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the logged-in user's name on the dashboard after authentication.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960" y="3300611"/>
            <a:ext cx="1127394" cy="6967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67960" y="4203998"/>
            <a:ext cx="2562260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🚪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Logout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967960" y="4568031"/>
            <a:ext cx="25622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Safely destroy the session and redirect back to the login page.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48EE9E-A627-44B1-01C2-F2AE1612DE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7526"/>
            <a:ext cx="1086874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RAPID FIRE RECAP — Pairs Activity (5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6484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 We Code — Let's Warm Up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241319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to your partner. Discuss these five questions. You have 60 seconds each. Be ready to share your answers with the class.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63850"/>
            <a:ext cx="3512653" cy="1255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3048198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INSERT vs. UPDATE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3405882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the difference? When do you use each one?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2863850"/>
            <a:ext cx="3512752" cy="12556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99964" y="3048198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Why Primary Key?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99964" y="3405882"/>
            <a:ext cx="30678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happens to your table if there's no Primary Key?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2863850"/>
            <a:ext cx="3512653" cy="12556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78010" y="3048198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WHERE Clause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78010" y="3405882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the purpose of WHERE? What happens if you forget it in a DELETE?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84762"/>
            <a:ext cx="3512653" cy="12556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2017" y="4469110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Why Validate?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922017" y="4826794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could go wrong if you skip form validation entirely?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4284762"/>
            <a:ext cx="3512752" cy="12556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99964" y="4469110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Purpose of a Database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4599964" y="4826794"/>
            <a:ext cx="30678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not just store data in a PHP array instead of MySQL?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2CF6A6-45DB-190B-CAC9-91F0BDB02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7613"/>
            <a:ext cx="858221" cy="310952"/>
          </a:xfrm>
          <a:prstGeom prst="roundRect">
            <a:avLst>
              <a:gd name="adj" fmla="val 638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797223"/>
            <a:ext cx="1269373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2464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 System — Concept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038251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login system has one job: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verify who you are before letting you in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flow is straightforward — the user submits a form, PHP checks the credentials against MySQL, and if they match, the user is granted access. No match? Show an error.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82752"/>
            <a:ext cx="5232666" cy="19635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89381" y="4693605"/>
            <a:ext cx="789224" cy="30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Redirect Dashboard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894743" y="4693605"/>
            <a:ext cx="789224" cy="30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Credentials Match?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905510" y="4693605"/>
            <a:ext cx="789224" cy="30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Query MySQL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916278" y="4769624"/>
            <a:ext cx="789224" cy="15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Receive Data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05423" y="4769624"/>
            <a:ext cx="789224" cy="152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 Form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1475" y="5432326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it simple. Username + password. One SQL query. One redirect. That's the entire concept.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3904" y="2075458"/>
            <a:ext cx="2533686" cy="1283593"/>
          </a:xfrm>
          <a:prstGeom prst="roundRect">
            <a:avLst>
              <a:gd name="adj" fmla="val 193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69198" y="2240756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69198" y="2664520"/>
            <a:ext cx="220309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fills login form with email + password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002884" y="2075458"/>
            <a:ext cx="2533686" cy="1283593"/>
          </a:xfrm>
          <a:prstGeom prst="roundRect">
            <a:avLst>
              <a:gd name="adj" fmla="val 193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68178" y="2240756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68178" y="2664520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PHP receives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03904" y="3524349"/>
            <a:ext cx="2533686" cy="1283593"/>
          </a:xfrm>
          <a:prstGeom prst="roundRect">
            <a:avLst>
              <a:gd name="adj" fmla="val 193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69198" y="3689648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69198" y="4113411"/>
            <a:ext cx="220309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SQL: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email = 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002884" y="3524349"/>
            <a:ext cx="2533686" cy="1283593"/>
          </a:xfrm>
          <a:prstGeom prst="roundRect">
            <a:avLst>
              <a:gd name="adj" fmla="val 193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168178" y="3689648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168178" y="4113411"/>
            <a:ext cx="220309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found + password matches → access granted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CE61D8B-C145-5432-DBA8-C760D1552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5300"/>
            <a:ext cx="1597680" cy="245566"/>
          </a:xfrm>
          <a:prstGeom prst="roundRect">
            <a:avLst>
              <a:gd name="adj" fmla="val 6762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4420" y="536773"/>
            <a:ext cx="2041375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LIVE CODING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87102"/>
            <a:ext cx="10868745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Follow Along in VS Code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1049437"/>
            <a:ext cx="10868745" cy="432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Building the Login Form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61475" y="1759645"/>
            <a:ext cx="5265606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VS Code. Create </a:t>
            </a:r>
            <a:r>
              <a:rPr lang="en-US" sz="10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login.php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We'll use Bootstrap 5 to build a clean, centered login card. Here's the structure we're coding right now: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1475" y="2296418"/>
            <a:ext cx="5265606" cy="3936008"/>
          </a:xfrm>
          <a:prstGeom prst="roundRect">
            <a:avLst>
              <a:gd name="adj" fmla="val 52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4629" y="2296418"/>
            <a:ext cx="5279298" cy="3936008"/>
          </a:xfrm>
          <a:prstGeom prst="roundRect">
            <a:avLst>
              <a:gd name="adj" fmla="val 52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7563" y="2434729"/>
            <a:ext cx="4933430" cy="3659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login.php --&gt;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 action="login.php"&gt;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class="mb-3"&gt;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&lt;label&gt;Email Address&lt;/label&gt;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type="email" name="email"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class="form-control"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placeholder="you@example.com"&gt;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class="mb-3"&gt;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&lt;label&gt;Password&lt;/label&gt;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type="password" name="password"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class="form-control"&gt;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class="btn btn-primary w-100"&gt;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1351" y="1655465"/>
            <a:ext cx="5464832" cy="4707136"/>
          </a:xfrm>
          <a:prstGeom prst="roundRect">
            <a:avLst>
              <a:gd name="adj" fmla="val 441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659" y="1771253"/>
            <a:ext cx="5188217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3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 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659" y="2103140"/>
            <a:ext cx="5797802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a Bootstrap Login Page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the following fields: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659" y="2410619"/>
            <a:ext cx="5188217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Address input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input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button (full width)</a:t>
            </a:r>
            <a:endParaRPr lang="en-US" sz="1050" dirty="0"/>
          </a:p>
          <a:p>
            <a:pPr marL="213360" indent="-213360" algn="l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centered on the page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659" y="3509963"/>
            <a:ext cx="5188217" cy="1905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659" y="3693716"/>
            <a:ext cx="5188217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3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659" y="4025602"/>
            <a:ext cx="5188217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an "Invalid Credentials" Bootstrap Alert in red when the form is submitted empty.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659" y="4596904"/>
            <a:ext cx="5188217" cy="1905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659" y="4780657"/>
            <a:ext cx="5188217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3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09659" y="5112544"/>
            <a:ext cx="5797802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</a:t>
            </a: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Show Password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toggle button using a small JavaScript snippet.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D9A3E6F-301C-F101-AF2B-2DC7D20BF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5612"/>
            <a:ext cx="752258" cy="250825"/>
          </a:xfrm>
          <a:prstGeom prst="roundRect">
            <a:avLst>
              <a:gd name="adj" fmla="val 6726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5809" y="497780"/>
            <a:ext cx="1193175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54162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Authentication — Concept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480046"/>
            <a:ext cx="5262927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means </a:t>
            </a: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confirming the user is who they claim to be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We do this by looking up their email in the database, then checking if the stored password matches what they typed. If both match — they're in.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38573"/>
            <a:ext cx="2631414" cy="562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1965" y="2920305"/>
            <a:ext cx="235043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 Login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1965" y="3259336"/>
            <a:ext cx="2350433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✓ + Password ✓ → Redirect to Dashboard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2889" y="2238573"/>
            <a:ext cx="2631513" cy="562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33379" y="2920305"/>
            <a:ext cx="235053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Invalid Login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33379" y="3259336"/>
            <a:ext cx="2350533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match found → Show error message, stay on login page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273643" y="1480046"/>
            <a:ext cx="587251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SQL query we use: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73643" y="1822450"/>
            <a:ext cx="5262927" cy="3609975"/>
          </a:xfrm>
          <a:prstGeom prst="roundRect">
            <a:avLst>
              <a:gd name="adj" fmla="val 58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66698" y="1822450"/>
            <a:ext cx="5276817" cy="3609975"/>
          </a:xfrm>
          <a:prstGeom prst="roundRect">
            <a:avLst>
              <a:gd name="adj" fmla="val 58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42410" y="1962944"/>
            <a:ext cx="4925393" cy="3328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$email = $_POST['email'];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$sql = "SELECT * FROM users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WHERE email = '$email'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LIMIT 1";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$result = mysqli_query($conn, $sql);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$user = mysqli_fetch_assoc($result);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($user &amp;&amp;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$user['password'] == $_POST['password']) {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// Success!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header("Location: dashboard.php");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$error = "Invalid credentials.";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73643" y="5566767"/>
            <a:ext cx="5262927" cy="701278"/>
          </a:xfrm>
          <a:prstGeom prst="roundRect">
            <a:avLst>
              <a:gd name="adj" fmla="val 3007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133" y="5771852"/>
            <a:ext cx="175712" cy="1404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30336" y="5709345"/>
            <a:ext cx="466574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We'll improve password security with hashing in a future session. For now, keep it simple and focus on the flow.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8FC81A3-16D7-F97E-3FF7-E1F6576EB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9786"/>
            <a:ext cx="2566526" cy="304403"/>
          </a:xfrm>
          <a:prstGeom prst="roundRect">
            <a:avLst>
              <a:gd name="adj" fmla="val 641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9104" y="558602"/>
            <a:ext cx="2980854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— MISSION +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8284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Authenticate Your Users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27907"/>
            <a:ext cx="162715" cy="1627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2065238"/>
            <a:ext cx="5235841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1475" y="2184698"/>
            <a:ext cx="5235841" cy="26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the </a:t>
            </a:r>
            <a:r>
              <a:rPr lang="en-US" sz="16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table in MySQL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475" y="2605584"/>
            <a:ext cx="52358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Fields: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66666"/>
            <a:ext cx="162715" cy="16271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1475" y="3403997"/>
            <a:ext cx="5235841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61475" y="3523456"/>
            <a:ext cx="523584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Write the PHP authentication logic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1475" y="3937992"/>
            <a:ext cx="5235841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the database with the submitted email. Check password. Redirect on success.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757539"/>
            <a:ext cx="162715" cy="16271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61475" y="4994870"/>
            <a:ext cx="5235841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61475" y="5114330"/>
            <a:ext cx="523584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both paths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1475" y="5528866"/>
            <a:ext cx="5235841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credentials → Dashboard. Invalid → Error message stays visible.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83555" y="1627287"/>
            <a:ext cx="5470190" cy="4720828"/>
          </a:xfrm>
          <a:prstGeom prst="roundRect">
            <a:avLst>
              <a:gd name="adj" fmla="val 517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346269" y="1787525"/>
            <a:ext cx="51447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 2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46269" y="2202061"/>
            <a:ext cx="514476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 users against your MySQL </a:t>
            </a:r>
            <a:r>
              <a:rPr lang="en-US" sz="125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table. On success, redirect to </a:t>
            </a:r>
            <a:r>
              <a:rPr lang="en-US" sz="125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dashboard.php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On failure, show a red Bootstrap Alert.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46269" y="2939951"/>
            <a:ext cx="5144760" cy="1905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346269" y="3179961"/>
            <a:ext cx="51447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46269" y="3594497"/>
            <a:ext cx="514476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a successful login, display: </a:t>
            </a: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"Welcome, [Student Name]!"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the dashboard using the name from the database.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346269" y="4332387"/>
            <a:ext cx="5144760" cy="1905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346269" y="4572397"/>
            <a:ext cx="51447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346269" y="4986933"/>
            <a:ext cx="514476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the last login timestamp in the database. Display it on the dashboard: </a:t>
            </a:r>
            <a:r>
              <a:rPr lang="en-US" sz="12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"Last login: Dec 10, 2024 at 2:34 PM"</a:t>
            </a:r>
            <a:endParaRPr lang="en-US" sz="12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1AD012D-C625-A521-B48C-0EEDD16A0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8870"/>
            <a:ext cx="664253" cy="213320"/>
          </a:xfrm>
          <a:prstGeom prst="roundRect">
            <a:avLst>
              <a:gd name="adj" fmla="val 697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5887" y="676077"/>
            <a:ext cx="1125013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89397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Sessions — Concept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500188"/>
            <a:ext cx="5283068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session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PHP's way of remembering a logged-in user across multiple pages. Without sessions, the user would have to log in on every single page. With sessions, PHP creates a unique ID stored in the browser, and ties it to data stored on the server.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858" y="2125663"/>
            <a:ext cx="3962301" cy="18134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55788" y="3436802"/>
            <a:ext cx="743876" cy="286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Read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418300" y="3436802"/>
            <a:ext cx="743876" cy="286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 Session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485907" y="3508453"/>
            <a:ext cx="743876" cy="14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Verify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33133" y="3436802"/>
            <a:ext cx="743876" cy="286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Browser Login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1475" y="4043660"/>
            <a:ext cx="528306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key tools: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session_start()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must be called at the top of </a:t>
            </a: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every PHP page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uses sessions.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superglobal array where you store and read session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53502" y="1521123"/>
            <a:ext cx="5283068" cy="2158008"/>
          </a:xfrm>
          <a:prstGeom prst="roundRect">
            <a:avLst>
              <a:gd name="adj" fmla="val 86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47351" y="1521123"/>
            <a:ext cx="5295371" cy="2158008"/>
          </a:xfrm>
          <a:prstGeom prst="roundRect">
            <a:avLst>
              <a:gd name="adj" fmla="val 86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2327" y="1645146"/>
            <a:ext cx="4985419" cy="190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After successful login: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session_start();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$_SESSION['user_id']   = $user['id'];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$_SESSION['user_name'] = $user['name'];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$_SESSION['user_email']= $user['email'];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header("Location: dashboard.php");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exit();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53502" y="3783707"/>
            <a:ext cx="5283068" cy="1637109"/>
          </a:xfrm>
          <a:prstGeom prst="roundRect">
            <a:avLst>
              <a:gd name="adj" fmla="val 113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247351" y="3783707"/>
            <a:ext cx="5295371" cy="1637109"/>
          </a:xfrm>
          <a:prstGeom prst="roundRect">
            <a:avLst>
              <a:gd name="adj" fmla="val 113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2327" y="3907730"/>
            <a:ext cx="4985419" cy="138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On dashboard.php: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session_start();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"Welcome, "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. $_SESSION['user_name']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. "!";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53502" y="5525393"/>
            <a:ext cx="5283068" cy="589161"/>
          </a:xfrm>
          <a:prstGeom prst="roundRect">
            <a:avLst>
              <a:gd name="adj" fmla="val 315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522" y="5698827"/>
            <a:ext cx="154976" cy="12402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56519" y="5639991"/>
            <a:ext cx="475603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call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session_start()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any HTML output — even a single blank line before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will break it.</a:t>
            </a:r>
            <a:endParaRPr lang="en-US" sz="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B5DEA2-4224-36E7-026A-1748FE6684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4649"/>
            <a:ext cx="2348350" cy="270272"/>
          </a:xfrm>
          <a:prstGeom prst="roundRect">
            <a:avLst>
              <a:gd name="adj" fmla="val 6609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0769" y="889298"/>
            <a:ext cx="27793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— MISSION +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168499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a Session After Login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955105"/>
            <a:ext cx="525280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it's your turn. After a successful login, start a session and store the user's data. Then read that data on the dashboard page to confirm the session is working correctly.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84475"/>
            <a:ext cx="2559383" cy="15883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51872" y="2896096"/>
            <a:ext cx="1785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9349" y="3379787"/>
            <a:ext cx="2223635" cy="238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Call </a:t>
            </a:r>
            <a:r>
              <a:rPr lang="en-US" sz="145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session_start()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9349" y="3752552"/>
            <a:ext cx="222363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it to the very top of both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login.php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dashboard.php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4800" y="2784475"/>
            <a:ext cx="2559482" cy="15883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5196" y="2896096"/>
            <a:ext cx="1785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22674" y="3379787"/>
            <a:ext cx="222373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Store session data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22674" y="3746202"/>
            <a:ext cx="222373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user_name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506813"/>
            <a:ext cx="5252807" cy="13558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98534" y="4618434"/>
            <a:ext cx="1785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29349" y="5102126"/>
            <a:ext cx="491705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 on dashboard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9349" y="5468541"/>
            <a:ext cx="491705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Echo the user's name from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$_SESSION['user_name']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76610" y="1834555"/>
            <a:ext cx="5467114" cy="4178796"/>
          </a:xfrm>
          <a:prstGeom prst="roundRect">
            <a:avLst>
              <a:gd name="adj" fmla="val 534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6325434" y="1968500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 3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325434" y="2334915"/>
            <a:ext cx="5169465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a successful login, start a session and store the user's name, ID, and email. Navigate to the dashboard — confirm you can display the stored session data.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325434" y="3201491"/>
            <a:ext cx="5169465" cy="1905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325434" y="3408462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325434" y="3774877"/>
            <a:ext cx="5169465" cy="458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 personalized greeting on the dashboard: </a:t>
            </a: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"Welcome back, Mohit! 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👋</a:t>
            </a: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325434" y="4421584"/>
            <a:ext cx="5169465" cy="1905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325434" y="4628555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325434" y="4994970"/>
            <a:ext cx="57790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and display the login timestamp: </a:t>
            </a: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"Session started at 2:45 PM"</a:t>
            </a:r>
            <a:endParaRPr lang="en-US" sz="11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0F5FC7D-8674-A414-2EA4-F4B63DC3D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750590"/>
            <a:ext cx="711678" cy="231775"/>
          </a:xfrm>
          <a:prstGeom prst="roundRect">
            <a:avLst>
              <a:gd name="adj" fmla="val 6850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40848" y="790277"/>
            <a:ext cx="116251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1024632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Protected Pages — Concept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1475" y="1692077"/>
            <a:ext cx="2987104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a page means </a:t>
            </a: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checking for a valid session before showing any content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If the session exists, load the page. If not, immediately redirect the user back to the login page. This check must happen at the very top of every protected page — before any HTML is rendered.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977580" y="1715889"/>
            <a:ext cx="2987104" cy="2931517"/>
          </a:xfrm>
          <a:prstGeom prst="roundRect">
            <a:avLst>
              <a:gd name="adj" fmla="val 67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971032" y="1715889"/>
            <a:ext cx="3000201" cy="2931517"/>
          </a:xfrm>
          <a:prstGeom prst="roundRect">
            <a:avLst>
              <a:gd name="adj" fmla="val 67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36326" y="1848148"/>
            <a:ext cx="2669612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session_start();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Guard clause — protect this page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(!isset($_SESSION['user_id'])) {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header("Location: login.php");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exit(); // Always exit after redirect!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Safe to render the page now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...dashboard content here...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77580" y="4766469"/>
            <a:ext cx="2987104" cy="1221780"/>
          </a:xfrm>
          <a:prstGeom prst="roundRect">
            <a:avLst>
              <a:gd name="adj" fmla="val 1624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835" y="4955679"/>
            <a:ext cx="165294" cy="1322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07385" y="4894759"/>
            <a:ext cx="2425044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call </a:t>
            </a:r>
            <a:r>
              <a:rPr lang="en-US" sz="10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exit()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immediately after </a:t>
            </a:r>
            <a:r>
              <a:rPr lang="en-US" sz="10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header("Location: ...")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Without it, PHP continues executing the rest of the page even though the browser redirects.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131AEF-9AFD-49DD-FA9B-B17BC4037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3677"/>
            <a:ext cx="2612364" cy="310952"/>
          </a:xfrm>
          <a:prstGeom prst="roundRect">
            <a:avLst>
              <a:gd name="adj" fmla="val 638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573286"/>
            <a:ext cx="302351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 — MISSION +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0070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Protect Your Dashboard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51521"/>
            <a:ext cx="5232666" cy="18942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5590" y="3283411"/>
            <a:ext cx="1310836" cy="16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Show or Redirect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45590" y="2712455"/>
            <a:ext cx="1310836" cy="16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 Session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45590" y="2135673"/>
            <a:ext cx="1310836" cy="16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Visit Dashboard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1475" y="3931841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pattern —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 session → redirect or proceed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is the core of every protected web application. You'll use it on every single page of your Student Management System.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84844" y="1665486"/>
            <a:ext cx="5470785" cy="4668738"/>
          </a:xfrm>
          <a:prstGeom prst="roundRect">
            <a:avLst>
              <a:gd name="adj" fmla="val 531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50139" y="1830784"/>
            <a:ext cx="51401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 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50139" y="2260898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session guard to 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dashboard.php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Open the URL directly without logging in — confirm you get redirected to 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login.php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automatically.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50139" y="3282057"/>
            <a:ext cx="5140196" cy="1905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50139" y="3528417"/>
            <a:ext cx="51401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50139" y="3958530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all protected pages: try accessing 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students.php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add_student.php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edit_student.php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directly. Every one should redirect unauthorized users.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50139" y="4979690"/>
            <a:ext cx="5140196" cy="1905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350139" y="5226050"/>
            <a:ext cx="51401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50139" y="5656163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friendly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"Access Denied"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page (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403.php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with a Bootstrap card, a lock icon, and a "Back to Login" button.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B844E3-944F-3F07-E8FF-3C74FB8F4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1371"/>
            <a:ext cx="1487351" cy="270272"/>
          </a:xfrm>
          <a:prstGeom prst="roundRect">
            <a:avLst>
              <a:gd name="adj" fmla="val 6609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0769" y="696020"/>
            <a:ext cx="191834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 — LOGOUT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75221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Logging Out — Clean Session Destroy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761827"/>
            <a:ext cx="525280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Logout means </a:t>
            </a: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destroying the session completely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no trace of the user's data remains on the server. A proper logout does three things: unsets all session variables, destroys the session, and redirects to login.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2591197"/>
            <a:ext cx="5252807" cy="3464719"/>
          </a:xfrm>
          <a:prstGeom prst="roundRect">
            <a:avLst>
              <a:gd name="adj" fmla="val 64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4034" y="2591197"/>
            <a:ext cx="5267689" cy="3464719"/>
          </a:xfrm>
          <a:prstGeom prst="roundRect">
            <a:avLst>
              <a:gd name="adj" fmla="val 64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0064" y="2740025"/>
            <a:ext cx="4895628" cy="3167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logout.php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session_start();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Clear all session data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 = array();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Destroy the session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session_destroy();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Send user back to login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header("Location: login.php");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exit();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83763" y="1761827"/>
            <a:ext cx="586239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logout button to your navigation bar. Link it to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logout.php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83763" y="2138759"/>
            <a:ext cx="5252807" cy="1202531"/>
          </a:xfrm>
          <a:prstGeom prst="roundRect">
            <a:avLst>
              <a:gd name="adj" fmla="val 18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76322" y="2138759"/>
            <a:ext cx="5267689" cy="1202531"/>
          </a:xfrm>
          <a:prstGeom prst="roundRect">
            <a:avLst>
              <a:gd name="adj" fmla="val 18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62352" y="2287588"/>
            <a:ext cx="4895628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navbar logout button --&gt;
&lt;a href="logout.php"
 class="btn btn-outline-danger btn-sm"&gt;
</a:t>
            </a:r>
            <a:endParaRPr lang="en-US" sz="11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48F2F0-3D82-EEF5-8699-AD07C5F00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1867"/>
            <a:ext cx="937495" cy="250825"/>
          </a:xfrm>
          <a:prstGeom prst="roundRect">
            <a:avLst>
              <a:gd name="adj" fmla="val 6726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5809" y="694035"/>
            <a:ext cx="1378412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🐛 BUG HUNT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50416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 the Bug — Broken Login System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568847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code below is a login system with </a:t>
            </a: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bugs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hidden in it. Work in pairs. Find them all before the reveal. Go!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2045593"/>
            <a:ext cx="5262927" cy="4026098"/>
          </a:xfrm>
          <a:prstGeom prst="roundRect">
            <a:avLst>
              <a:gd name="adj" fmla="val 52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4530" y="2045593"/>
            <a:ext cx="5276817" cy="4026098"/>
          </a:xfrm>
          <a:prstGeom prst="roundRect">
            <a:avLst>
              <a:gd name="adj" fmla="val 52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0242" y="2186087"/>
            <a:ext cx="4925393" cy="3745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login.php — Find the bugs!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$email    = $_POST['email'];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$password = $_POST['password'];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$sql = "SELECT * FROM users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WHERE email = '$email'";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$result = mysqli_query($conn, $sql);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$user   = mysqli_fetch_assoc($result);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($user['password'] == $password) {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$_SESSION['user_id'] = $user['id'];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header("Location: dashboard.php");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"Invalid credentials.";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73643" y="2030710"/>
            <a:ext cx="5262927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3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Bugs to Find:</a:t>
            </a:r>
            <a:endParaRPr lang="en-US" sz="13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3643" y="2390973"/>
            <a:ext cx="2571686" cy="10805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09381" y="2550517"/>
            <a:ext cx="217640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1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09381" y="2889548"/>
            <a:ext cx="2176408" cy="42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session_start()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the top of the file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4785" y="2390973"/>
            <a:ext cx="2571785" cy="10805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200523" y="2550517"/>
            <a:ext cx="217650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2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9200523" y="2889548"/>
            <a:ext cx="2176507" cy="42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exit()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 the redirect — page keeps executing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3643" y="3591024"/>
            <a:ext cx="2571686" cy="10805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9381" y="3750568"/>
            <a:ext cx="217640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3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09381" y="4089598"/>
            <a:ext cx="2176408" cy="42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returns multiple rows — no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 1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4785" y="3591024"/>
            <a:ext cx="2571785" cy="10805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00523" y="3750568"/>
            <a:ext cx="217650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4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9200523" y="4089598"/>
            <a:ext cx="217650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message always shows — even on a successful login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3643" y="4791075"/>
            <a:ext cx="2571686" cy="10805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09381" y="4950619"/>
            <a:ext cx="217640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5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509381" y="5289649"/>
            <a:ext cx="2176408" cy="42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database connection (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$conn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included or defined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E4D8AE4-335C-BF1B-A157-D1E420995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5207"/>
            <a:ext cx="2198732" cy="296664"/>
          </a:xfrm>
          <a:prstGeom prst="roundRect">
            <a:avLst>
              <a:gd name="adj" fmla="val 6356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5730" y="592336"/>
            <a:ext cx="2619806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 BUILD SPRINT — 30 MINUTES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01502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Your Student Management System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765498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Requirements Checklist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1475" y="2178943"/>
            <a:ext cx="2546683" cy="1205607"/>
          </a:xfrm>
          <a:prstGeom prst="roundRect">
            <a:avLst>
              <a:gd name="adj" fmla="val 195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8534" y="2336006"/>
            <a:ext cx="2232564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Login Page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8534" y="2737148"/>
            <a:ext cx="22325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form with email + password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7379" y="2178943"/>
            <a:ext cx="2546782" cy="1205607"/>
          </a:xfrm>
          <a:prstGeom prst="roundRect">
            <a:avLst>
              <a:gd name="adj" fmla="val 195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14439" y="2336006"/>
            <a:ext cx="2232664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🔑</a:t>
            </a: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Authentication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4439" y="2737148"/>
            <a:ext cx="22326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credentials against MySQL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1475" y="3533775"/>
            <a:ext cx="2546683" cy="1205607"/>
          </a:xfrm>
          <a:prstGeom prst="roundRect">
            <a:avLst>
              <a:gd name="adj" fmla="val 195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534" y="3690838"/>
            <a:ext cx="2232564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Sessions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8534" y="4091980"/>
            <a:ext cx="22325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session, store user data after login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57379" y="3533775"/>
            <a:ext cx="2546782" cy="1205607"/>
          </a:xfrm>
          <a:prstGeom prst="roundRect">
            <a:avLst>
              <a:gd name="adj" fmla="val 195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14439" y="3690838"/>
            <a:ext cx="2232664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Protected Pages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14439" y="4091980"/>
            <a:ext cx="22326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 every CRUD page with session check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1475" y="4888607"/>
            <a:ext cx="5242687" cy="960438"/>
          </a:xfrm>
          <a:prstGeom prst="roundRect">
            <a:avLst>
              <a:gd name="adj" fmla="val 245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8534" y="5045670"/>
            <a:ext cx="4928568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🚪</a:t>
            </a: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Logout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534" y="5446812"/>
            <a:ext cx="492856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Destroy session and redirect to login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93883" y="1784152"/>
            <a:ext cx="5242687" cy="1088926"/>
          </a:xfrm>
          <a:prstGeom prst="roundRect">
            <a:avLst>
              <a:gd name="adj" fmla="val 2164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943" y="2020689"/>
            <a:ext cx="196349" cy="15706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04351" y="1957685"/>
            <a:ext cx="4575160" cy="741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⏱️ Timer: 30 Minutes — Build as much as you can. Bonus points for a polished UI and showing the logged-in user's name in the navbar.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93883" y="3040955"/>
            <a:ext cx="5242687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5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 Goals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293883" y="3442097"/>
            <a:ext cx="5242687" cy="1137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logged-in user's name in the top navbar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Bootstrap UI with sidebar navigation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"Access Denied" page for unauthorized access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last login time on the dashboard card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93883" y="4728567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Files You'll Need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293883" y="5123359"/>
            <a:ext cx="5242687" cy="1137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login.php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form + authentication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dashboard.php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protected home page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logout.php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session destroy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db.php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database connection (include on all pages)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A6ABE5C-7B3A-5C18-45FD-E04B61EB8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1665"/>
            <a:ext cx="875980" cy="238125"/>
          </a:xfrm>
          <a:prstGeom prst="roundRect">
            <a:avLst>
              <a:gd name="adj" fmla="val 666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0848" y="501352"/>
            <a:ext cx="1326819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🎤 DEMO DAY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4205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Showcase — Present Your Work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33314"/>
            <a:ext cx="4218378" cy="42184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770860"/>
            <a:ext cx="52730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team gets </a:t>
            </a: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 minutes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stage. Walk us through your working login system. Be proud — you built this from scratch today.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63523" y="1420019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 These 4 Things: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3523" y="1762224"/>
            <a:ext cx="132255" cy="13225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523" y="1951434"/>
            <a:ext cx="5273047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63523" y="205561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523" y="2368054"/>
            <a:ext cx="52730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a successful login with real credentials from your database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3523" y="2780010"/>
            <a:ext cx="132255" cy="13225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63523" y="2969220"/>
            <a:ext cx="5273047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263523" y="307340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63523" y="3385840"/>
            <a:ext cx="52730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protected dashboard with the user's name displayed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523" y="3797796"/>
            <a:ext cx="132255" cy="132259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63523" y="3987006"/>
            <a:ext cx="5273047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6263523" y="4091186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Logout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263523" y="4403626"/>
            <a:ext cx="52730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logout — confirm you're redirected and session is gone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3523" y="4815582"/>
            <a:ext cx="132255" cy="132259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263523" y="5004792"/>
            <a:ext cx="5273047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6263523" y="5108972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Biggest Challenge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263523" y="5421412"/>
            <a:ext cx="52730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one bug you hit and how you fixed it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263523" y="5830193"/>
            <a:ext cx="5273047" cy="447080"/>
          </a:xfrm>
          <a:prstGeom prst="roundRect">
            <a:avLst>
              <a:gd name="adj" fmla="val 4439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778" y="6019403"/>
            <a:ext cx="165294" cy="13225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93328" y="5958483"/>
            <a:ext cx="53205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 will ask each team one authentication question. Be ready!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F782FE8-9652-D0F9-4185-DC982F5441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2940"/>
            <a:ext cx="1234052" cy="251916"/>
          </a:xfrm>
          <a:prstGeom prst="roundRect">
            <a:avLst>
              <a:gd name="adj" fmla="val 6592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4420" y="544413"/>
            <a:ext cx="1677747" cy="16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 INTERVIEW QUIZ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01092"/>
            <a:ext cx="10868745" cy="432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Questions — Answer Without Notes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407120"/>
            <a:ext cx="11478330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real interview questions. Answer them out loud with your partner first, then we'll discuss as a class.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40595"/>
            <a:ext cx="10868745" cy="830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3458" y="2025948"/>
            <a:ext cx="207560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49837" y="1897955"/>
            <a:ext cx="1002302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Authentication?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49837" y="2183507"/>
            <a:ext cx="10023026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it in one sentence. What exactly does PHP verify during login?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86645"/>
            <a:ext cx="10868745" cy="8302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3458" y="2971998"/>
            <a:ext cx="207560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49837" y="2844006"/>
            <a:ext cx="1002302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Use Sessions?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349837" y="3129558"/>
            <a:ext cx="10023026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problem do sessions solve? What would happen without them?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32696"/>
            <a:ext cx="10868745" cy="8302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3458" y="3918049"/>
            <a:ext cx="207560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49837" y="3790057"/>
            <a:ext cx="1002302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 vs. Session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49837" y="4075609"/>
            <a:ext cx="10023026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the difference between the login process and a session? Are they the same thing?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78747"/>
            <a:ext cx="10868745" cy="8302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3458" y="4864100"/>
            <a:ext cx="207560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349837" y="4736108"/>
            <a:ext cx="1002302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Happens After Logout?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349837" y="5021659"/>
            <a:ext cx="10023026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through exactly what </a:t>
            </a:r>
            <a:r>
              <a:rPr lang="en-US" sz="10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logout.php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does, step by step.</a:t>
            </a:r>
            <a:endParaRPr lang="en-US" sz="10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524798"/>
            <a:ext cx="10868745" cy="8302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3458" y="5810151"/>
            <a:ext cx="207560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349837" y="5682159"/>
            <a:ext cx="1002302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 the Output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349837" y="5967710"/>
            <a:ext cx="10023026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</a:t>
            </a:r>
            <a:r>
              <a:rPr lang="en-US" sz="10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session_start()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missing from </a:t>
            </a:r>
            <a:r>
              <a:rPr lang="en-US" sz="10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dashboard.php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what happens when a logged-in user visits it?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E556CB8-E644-E23F-DFE6-FA1C0A8BE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8891"/>
            <a:ext cx="958727" cy="219670"/>
          </a:xfrm>
          <a:prstGeom prst="roundRect">
            <a:avLst>
              <a:gd name="adj" fmla="val 6776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5887" y="686098"/>
            <a:ext cx="1419487" cy="145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ASSIGNMENT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05768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Take It Further — Improve Your Project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37494"/>
            <a:ext cx="3962301" cy="3962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604470"/>
            <a:ext cx="5283068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have a working secure login system. Now push it further. These improvements will make your project look </a:t>
            </a: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production-ready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kind of portfolio piece that impresses in interviews.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3502" y="1537494"/>
            <a:ext cx="248041" cy="248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53502" y="1901825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Forgot Password UI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53502" y="2188567"/>
            <a:ext cx="5283068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UI for a forgot password flow — form with email input and a confirmation message. (No email sending required — just the interface.)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3502" y="2721868"/>
            <a:ext cx="248041" cy="248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53502" y="3086199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Profile Picture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253502" y="3372941"/>
            <a:ext cx="5283068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profile picture column to the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table. Display the avatar in the navbar and on a profile page.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3502" y="3912592"/>
            <a:ext cx="248041" cy="2480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53502" y="4276923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Change Password UI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253502" y="4563666"/>
            <a:ext cx="5283068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"Change Password" form that accepts current password, new password, and confirm password fields.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3502" y="5096966"/>
            <a:ext cx="248041" cy="24804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53502" y="5461298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Push to GitHub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253502" y="5748040"/>
            <a:ext cx="5283068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all changes with a meaningful message and push to your GitHub repo. Share the link with your trainer.</a:t>
            </a:r>
            <a:endParaRPr lang="en-US" sz="9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71E95B1-748B-68F5-253D-B7EA5F449A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7609"/>
            <a:ext cx="1020935" cy="270272"/>
          </a:xfrm>
          <a:prstGeom prst="roundRect">
            <a:avLst>
              <a:gd name="adj" fmla="val 6609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0769" y="602258"/>
            <a:ext cx="14519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🏁 DAY RECAP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81459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Today's Achievement — You Built This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61475" y="1698228"/>
            <a:ext cx="5252807" cy="4451449"/>
          </a:xfrm>
          <a:prstGeom prst="roundRect">
            <a:avLst>
              <a:gd name="adj" fmla="val 50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1475" y="1698228"/>
            <a:ext cx="5252807" cy="89029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0299" y="1847056"/>
            <a:ext cx="495515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Login Page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0299" y="2213471"/>
            <a:ext cx="495515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form, POST submission, clean UI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1475" y="2588518"/>
            <a:ext cx="5252807" cy="89029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1475" y="2588518"/>
            <a:ext cx="5252807" cy="19050"/>
          </a:xfrm>
          <a:prstGeom prst="roundRect">
            <a:avLst>
              <a:gd name="adj" fmla="val 11720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0299" y="2737346"/>
            <a:ext cx="495515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Authentication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0299" y="3103761"/>
            <a:ext cx="495515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 against MySQL users table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3478808"/>
            <a:ext cx="5252807" cy="89029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1475" y="3478808"/>
            <a:ext cx="5252807" cy="19050"/>
          </a:xfrm>
          <a:prstGeom prst="roundRect">
            <a:avLst>
              <a:gd name="adj" fmla="val 11720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0299" y="3627636"/>
            <a:ext cx="495515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Sessions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10299" y="3994051"/>
            <a:ext cx="495515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session_start()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$_SESSION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user data stored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1475" y="4369098"/>
            <a:ext cx="5252807" cy="89029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1475" y="4369098"/>
            <a:ext cx="5252807" cy="19050"/>
          </a:xfrm>
          <a:prstGeom prst="roundRect">
            <a:avLst>
              <a:gd name="adj" fmla="val 11720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0299" y="4517926"/>
            <a:ext cx="495515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Protected Pages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0299" y="4884341"/>
            <a:ext cx="495515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guard on every CRUD page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1475" y="5259387"/>
            <a:ext cx="5252807" cy="89029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1475" y="5259387"/>
            <a:ext cx="5252807" cy="19050"/>
          </a:xfrm>
          <a:prstGeom prst="roundRect">
            <a:avLst>
              <a:gd name="adj" fmla="val 11720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0299" y="5408216"/>
            <a:ext cx="495515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Logout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10299" y="5774630"/>
            <a:ext cx="495515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destroyed, redirect to login</a:t>
            </a:r>
            <a:endParaRPr lang="en-US" sz="11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389" y="1698228"/>
            <a:ext cx="4727457" cy="17739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366071" y="3041522"/>
            <a:ext cx="713013" cy="13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Logout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467478" y="2972844"/>
            <a:ext cx="713013" cy="27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Protected Dashboard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573770" y="2972844"/>
            <a:ext cx="713013" cy="27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Session Created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680062" y="3041522"/>
            <a:ext cx="713013" cy="13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Auth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766819" y="3041522"/>
            <a:ext cx="713013" cy="13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 Form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283763" y="3622873"/>
            <a:ext cx="19050" cy="919758"/>
          </a:xfrm>
          <a:prstGeom prst="roundRect">
            <a:avLst>
              <a:gd name="adj" fmla="val 59999"/>
            </a:avLst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507000" y="3743424"/>
            <a:ext cx="502957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"Before today, your Student Management System was open to the world. Right now, it's protected. You built that from scratch in under 3 hours. That's real engineering."</a:t>
            </a:r>
            <a:endParaRPr lang="en-US" sz="11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56BFEAA-9C70-E44B-1700-15A0F3F06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7077"/>
            <a:ext cx="629686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COMING TOMORROW — DAY 12 OF 13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61475" y="854373"/>
            <a:ext cx="6296860" cy="878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Making Your Project </a:t>
            </a:r>
            <a:r>
              <a:rPr lang="en-US" sz="275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Production Ready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661475" y="1912045"/>
            <a:ext cx="6296860" cy="786606"/>
          </a:xfrm>
          <a:prstGeom prst="roundRect">
            <a:avLst>
              <a:gd name="adj" fmla="val 268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1965" y="2052538"/>
            <a:ext cx="6015879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Search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1965" y="2350095"/>
            <a:ext cx="6015879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live search to your student list — filter records in real time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1475" y="2818110"/>
            <a:ext cx="6296860" cy="792956"/>
          </a:xfrm>
          <a:prstGeom prst="roundRect">
            <a:avLst>
              <a:gd name="adj" fmla="val 2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1965" y="2958604"/>
            <a:ext cx="6015879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Pagination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1965" y="3256161"/>
            <a:ext cx="6015879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large datasets gracefully with MySQL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OFFSET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1475" y="3730526"/>
            <a:ext cx="6296860" cy="786606"/>
          </a:xfrm>
          <a:prstGeom prst="roundRect">
            <a:avLst>
              <a:gd name="adj" fmla="val 268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1965" y="3871020"/>
            <a:ext cx="6015879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Dashboard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1965" y="4168577"/>
            <a:ext cx="6015879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stats cards — total students, recent additions, summary metrics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1475" y="4636591"/>
            <a:ext cx="6296860" cy="786606"/>
          </a:xfrm>
          <a:prstGeom prst="roundRect">
            <a:avLst>
              <a:gd name="adj" fmla="val 268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1965" y="4777085"/>
            <a:ext cx="6015879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✨</a:t>
            </a: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Final Polish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01965" y="5074642"/>
            <a:ext cx="6015879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navigation, responsive layout, portfolio-ready finish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1475" y="5557540"/>
            <a:ext cx="6296860" cy="713284"/>
          </a:xfrm>
          <a:prstGeom prst="roundRect">
            <a:avLst>
              <a:gd name="adj" fmla="val 2956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65" y="5749925"/>
            <a:ext cx="175712" cy="14049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18167" y="5712123"/>
            <a:ext cx="569967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you secured your application. Tomorrow you'll transform it into a professional project you can proudly show to any employer. 🚀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A741B76-C8F1-3D47-D408-B42F2C188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8166" y="107753"/>
            <a:ext cx="1081423" cy="709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2822</Words>
  <Application>Microsoft Macintosh PowerPoint</Application>
  <PresentationFormat>Widescreen</PresentationFormat>
  <Paragraphs>368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Twemoji Mozilla</vt:lpstr>
      <vt:lpstr>Inter</vt:lpstr>
      <vt:lpstr>Consolas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Office767</cp:lastModifiedBy>
  <cp:revision>2</cp:revision>
  <dcterms:created xsi:type="dcterms:W3CDTF">2026-07-08T13:59:06Z</dcterms:created>
  <dcterms:modified xsi:type="dcterms:W3CDTF">2026-07-08T14:30:13Z</dcterms:modified>
</cp:coreProperties>
</file>