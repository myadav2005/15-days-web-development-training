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Inter" panose="02000503000000020004"/>
      <p:regular r:id="rId28"/>
    </p:embeddedFont>
    <p:embeddedFont>
      <p:font typeface="Inter Bold" panose="02000503000000020004"/>
      <p:regular r:id="rId29"/>
      <p:bold r:id="rId30"/>
    </p:embeddedFont>
    <p:embeddedFont>
      <p:font typeface="Inter Light" panose="02000503000000020004" pitchFamily="2" charset="0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285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4.jpe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59" y="2626874"/>
            <a:ext cx="6296860" cy="98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 12: Making Your Project Production Ready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5233359" y="3832581"/>
            <a:ext cx="690644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Uploads, Search &amp; Project Polish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233359" y="4320778"/>
            <a:ext cx="3120931" cy="900708"/>
          </a:xfrm>
          <a:prstGeom prst="roundRect">
            <a:avLst>
              <a:gd name="adj" fmla="val 261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90420" y="4477842"/>
            <a:ext cx="2672925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📸</a:t>
            </a: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Profile Photos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90420" y="4819253"/>
            <a:ext cx="267292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&amp; display student images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33360" y="5370711"/>
            <a:ext cx="3120930" cy="900708"/>
          </a:xfrm>
          <a:prstGeom prst="roundRect">
            <a:avLst>
              <a:gd name="adj" fmla="val 261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90420" y="5527774"/>
            <a:ext cx="2672925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Search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390420" y="5869186"/>
            <a:ext cx="267292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records in real time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61244" y="4320778"/>
            <a:ext cx="3120931" cy="900708"/>
          </a:xfrm>
          <a:prstGeom prst="roundRect">
            <a:avLst>
              <a:gd name="adj" fmla="val 261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63305" y="4488042"/>
            <a:ext cx="261058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✨</a:t>
            </a: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Project Polish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63305" y="4829454"/>
            <a:ext cx="261058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UI &amp; dashboard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61244" y="5370711"/>
            <a:ext cx="3120931" cy="900708"/>
          </a:xfrm>
          <a:prstGeom prst="roundRect">
            <a:avLst>
              <a:gd name="adj" fmla="val 261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563305" y="5537975"/>
            <a:ext cx="261058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Demo Ready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63305" y="5879387"/>
            <a:ext cx="261058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a production-grade app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4081492-5973-B51C-9F04-35D6B7F65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59" y="1369573"/>
            <a:ext cx="3783452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8904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Opening Hook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18734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Do LinkedIn &amp; Facebook Allow Profile Photos?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2787055"/>
            <a:ext cx="579621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about the last time you visited a student portal, a company directory, or a social profile. The first thing your eye goes to is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photo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 face makes a record feel real — it builds trust and professionalism instantly.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4031555"/>
            <a:ext cx="19050" cy="1091505"/>
          </a:xfrm>
          <a:prstGeom prst="roundRect">
            <a:avLst>
              <a:gd name="adj" fmla="val 59999"/>
            </a:avLst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09516" y="4180384"/>
            <a:ext cx="554817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Would your Student Management System feel complete without profile pictures? Right now it's a list of names. Today, we turn it into a professional application.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7452" y="2824262"/>
            <a:ext cx="4669018" cy="10570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27994" y="3008610"/>
            <a:ext cx="42241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27994" y="3432373"/>
            <a:ext cx="42241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table of names, no faces, no identity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7452" y="4046637"/>
            <a:ext cx="4669018" cy="105707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27994" y="4230985"/>
            <a:ext cx="42241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After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27994" y="4654748"/>
            <a:ext cx="42241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+ name + branch — a real student profile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20AAB4-CCFC-C2BC-C0E8-55E6DAA0E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01253"/>
            <a:ext cx="629686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Today's Mission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61475" y="727968"/>
            <a:ext cx="6296860" cy="763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a Professional Student Management System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61475" y="1626295"/>
            <a:ext cx="6296860" cy="1115020"/>
          </a:xfrm>
          <a:prstGeom prst="roundRect">
            <a:avLst>
              <a:gd name="adj" fmla="val 164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3511" y="1748334"/>
            <a:ext cx="366306" cy="366316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215" y="1849041"/>
            <a:ext cx="164798" cy="1648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3511" y="2204740"/>
            <a:ext cx="605278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Profile Photo Upload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3511" y="2449513"/>
            <a:ext cx="6052788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users upload &amp; display images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61475" y="2831405"/>
            <a:ext cx="6296860" cy="1115020"/>
          </a:xfrm>
          <a:prstGeom prst="roundRect">
            <a:avLst>
              <a:gd name="adj" fmla="val 164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3511" y="2953445"/>
            <a:ext cx="366306" cy="366316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215" y="3054152"/>
            <a:ext cx="164798" cy="1648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3511" y="3409851"/>
            <a:ext cx="605278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Search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83511" y="3654623"/>
            <a:ext cx="6052788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 name, branch, or course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61475" y="4036516"/>
            <a:ext cx="6296860" cy="1115020"/>
          </a:xfrm>
          <a:prstGeom prst="roundRect">
            <a:avLst>
              <a:gd name="adj" fmla="val 164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83511" y="4158555"/>
            <a:ext cx="366306" cy="366316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215" y="4259263"/>
            <a:ext cx="164798" cy="1648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3511" y="4614962"/>
            <a:ext cx="605278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Better Dashboard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83511" y="4859734"/>
            <a:ext cx="6052788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Stats cards, icons, responsive layout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61475" y="5241627"/>
            <a:ext cx="6296860" cy="1115020"/>
          </a:xfrm>
          <a:prstGeom prst="roundRect">
            <a:avLst>
              <a:gd name="adj" fmla="val 164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783511" y="5363666"/>
            <a:ext cx="366306" cy="366316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4215" y="5464373"/>
            <a:ext cx="164798" cy="1648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83511" y="5820073"/>
            <a:ext cx="605278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Review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83511" y="6064845"/>
            <a:ext cx="6052788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Validate, test, and polish before demo day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C698672-4084-74E0-2A0C-9AA3339C63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077"/>
            <a:ext cx="1086874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600" b="1" dirty="0">
                <a:solidFill>
                  <a:srgbClr val="00ADE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Rapid Fire Recap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87997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Pair Discussion — 5 Minutes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164474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to your partner. Answer these five questions out loud. If you can explain it clearly, you own it.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95401"/>
            <a:ext cx="3512653" cy="17327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18585" y="221942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5819" y="275689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Sessions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5819" y="3114576"/>
            <a:ext cx="314396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purpose of PHP sessions? When do they start and end?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2095401"/>
            <a:ext cx="3512752" cy="17327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96532" y="221942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523766" y="2756892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 vs Auth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3766" y="3114576"/>
            <a:ext cx="3144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difference between </a:t>
            </a:r>
            <a:r>
              <a:rPr lang="en-US" sz="13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 in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3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2095401"/>
            <a:ext cx="3512653" cy="17327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74578" y="221942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201812" y="275689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CRUD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201812" y="3114576"/>
            <a:ext cx="314396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four operations and give one SQL example for each.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993455"/>
            <a:ext cx="5351626" cy="14681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38022" y="411747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45819" y="4654947"/>
            <a:ext cx="498293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Keys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45819" y="5012630"/>
            <a:ext cx="498293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every table need a primary key?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395" y="3993455"/>
            <a:ext cx="5351725" cy="14681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55042" y="411747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6362739" y="4654947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 Validation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362739" y="5012630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validate on the server side, not just the browser?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61475" y="5647630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69" y="5887343"/>
            <a:ext cx="206667" cy="16529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98731" y="585420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should NEVER go 10 minutes without writing code. Keep this to 5 minutes max — then jump straight into Module 1.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B6C1A9D-A4C8-B216-4CEE-D4975F4730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1052089" cy="128984"/>
          </a:xfrm>
          <a:prstGeom prst="roundRect">
            <a:avLst>
              <a:gd name="adj" fmla="val 7694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1083" y="486271"/>
            <a:ext cx="66078" cy="660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10200" y="479623"/>
            <a:ext cx="1463341" cy="79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FILE UPLOAD</a:t>
            </a:r>
            <a:endParaRPr lang="en-US" sz="500" dirty="0"/>
          </a:p>
        </p:txBody>
      </p:sp>
      <p:sp>
        <p:nvSpPr>
          <p:cNvPr id="5" name="Text 3"/>
          <p:cNvSpPr/>
          <p:nvPr/>
        </p:nvSpPr>
        <p:spPr>
          <a:xfrm>
            <a:off x="661475" y="600273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File Uploads Work in PHP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920750"/>
            <a:ext cx="10779153" cy="46482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1583" y="468755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Store Filename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361155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Save File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31583" y="2546414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Receive $_FILES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431583" y="1470408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 Form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01945" y="5615484"/>
            <a:ext cx="5452628" cy="1023342"/>
          </a:xfrm>
          <a:prstGeom prst="roundRect">
            <a:avLst>
              <a:gd name="adj" fmla="val 1212"/>
            </a:avLst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4592" y="5656759"/>
            <a:ext cx="528733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Things You Must Know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4592" y="5827216"/>
            <a:ext cx="5287334" cy="326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enctype="multipart/form-data"</a:t>
            </a: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required on the form tag or the file never arrives</a:t>
            </a:r>
            <a:endParaRPr lang="en-US" sz="65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$_FILES['photo']</a:t>
            </a: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PHP's superglobal that holds the uploaded file data</a:t>
            </a:r>
            <a:endParaRPr lang="en-US" sz="65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move_uploaded_file()</a:t>
            </a: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moves the temp file to your </a:t>
            </a:r>
            <a:r>
              <a:rPr lang="en-US" sz="650" dirty="0">
                <a:solidFill>
                  <a:srgbClr val="000000"/>
                </a:solidFill>
                <a:highlight>
                  <a:srgbClr val="00A0E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uploads/</a:t>
            </a: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folder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203001" y="5656759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Minimum Viable Upload Form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203001" y="5832376"/>
            <a:ext cx="5333569" cy="760016"/>
          </a:xfrm>
          <a:prstGeom prst="roundRect">
            <a:avLst>
              <a:gd name="adj" fmla="val 163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198933" y="5832376"/>
            <a:ext cx="5341705" cy="760016"/>
          </a:xfrm>
          <a:prstGeom prst="roundRect">
            <a:avLst>
              <a:gd name="adj" fmla="val 163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302217" y="5915025"/>
            <a:ext cx="5135136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enctype="multipart/form-data"&gt;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&lt;input type="file"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name="photo"&gt;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&lt;button&gt;Upload&lt;/button&gt;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6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211C65D-EA55-D81C-E409-566D27D4E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5099"/>
            <a:ext cx="1473659" cy="195461"/>
          </a:xfrm>
          <a:prstGeom prst="roundRect">
            <a:avLst>
              <a:gd name="adj" fmla="val 710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0926" y="686495"/>
            <a:ext cx="92569" cy="92571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9730" y="669826"/>
            <a:ext cx="1805538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FILE UPLOAD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862905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Code: PHP File Upload Handler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61475" y="1346200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this out — do NOT copy-paste. Understanding comes from typing it yourself.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1475" y="1594743"/>
            <a:ext cx="10868745" cy="4167882"/>
          </a:xfrm>
          <a:prstGeom prst="roundRect">
            <a:avLst>
              <a:gd name="adj" fmla="val 41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5720" y="1594743"/>
            <a:ext cx="10880254" cy="4167882"/>
          </a:xfrm>
          <a:prstGeom prst="roundRect">
            <a:avLst>
              <a:gd name="adj" fmla="val 41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0378" y="1710432"/>
            <a:ext cx="10590940" cy="393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($_SERVER['REQUEST_METHOD'] == 'POST') {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$allowed_types = ['image/jpeg', 'image/png', 'image/gif'];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$file = $_FILES['photo'];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Basic validation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(!in_array($file['type'], $allowed_types)) {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die("Error: Only JPG, PNG, GIF allowed.");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($file['size'] &gt; 2 * 1024 * 1024) {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die("Error: File too large (max 2MB).");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Generate unique filename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$ext      = pathinfo($file['name'], PATHINFO_EXTENSION);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$filename = uniqid('student_') . '.' . $ext;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$dest     = 'uploads/' . $filename;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(move_uploaded_file($file['tmp_name'], $dest)) {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Save $filename to DB  ← your next step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echo "Upload successful!";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1475" y="5853708"/>
            <a:ext cx="10868745" cy="369094"/>
          </a:xfrm>
          <a:prstGeom prst="roundRect">
            <a:avLst>
              <a:gd name="adj" fmla="val 470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61" y="6004917"/>
            <a:ext cx="144657" cy="11568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37505" y="5963543"/>
            <a:ext cx="109866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validate file type AND file size server-side. Never trust the browser's file picker alone.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5C985E-FF62-144C-429D-0A92E1718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74824"/>
            <a:ext cx="2118168" cy="317302"/>
          </a:xfrm>
          <a:prstGeom prst="roundRect">
            <a:avLst>
              <a:gd name="adj" fmla="val 6255"/>
            </a:avLst>
          </a:prstGeom>
          <a:noFill/>
          <a:ln/>
          <a:effectLst>
            <a:outerShdw blurRad="101600" dist="50800" dir="16200000" algn="bl" rotWithShape="0">
              <a:srgbClr val="00ADE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024434"/>
            <a:ext cx="252932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r>
              <a:rPr lang="en-US" sz="10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MISSION + 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</a:t>
            </a:r>
            <a:r>
              <a:rPr lang="en-US" sz="10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3582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1 Mission: Upload Profile Picture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288282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 Requirements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718395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file input to the Add/Edit Student form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image file to the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uploads/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folder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 filename to a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photo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 in your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table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the photo in the student list and profile 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288282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2718395"/>
            <a:ext cx="5232666" cy="170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a default avatar when no photo is uploaded — use a placeholder image from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assets/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Bonus: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Display a Bootstrap success alert after a successful upload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Super Bonus: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Preview the image in the browser before the form submits using JavaScript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4665663"/>
            <a:ext cx="3512653" cy="121751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6769" y="4830961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Hint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6769" y="5188645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students ADD photo VARCHAR(255);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39422" y="4665663"/>
            <a:ext cx="3512752" cy="121751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04716" y="4830961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 Hint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04716" y="5188645"/>
            <a:ext cx="31821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src="uploads/&lt;?= $row['photo'] ?&gt;"&gt;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17468" y="4665663"/>
            <a:ext cx="3512653" cy="121751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82762" y="4830961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Default Hint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2762" y="5188645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$photo = $row['photo'] ?: 'assets/default.png';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55E183-23BB-FE3F-91BA-1613A082B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5237"/>
            <a:ext cx="1090288" cy="160139"/>
          </a:xfrm>
          <a:prstGeom prst="roundRect">
            <a:avLst>
              <a:gd name="adj" fmla="val 7407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0707" y="505718"/>
            <a:ext cx="79075" cy="79077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9270" y="494804"/>
            <a:ext cx="1462845" cy="101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— SEARCH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661475" y="648990"/>
            <a:ext cx="10868745" cy="308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Student Search Works</a:t>
            </a:r>
            <a:endParaRPr lang="en-US" sz="1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779" y="1046460"/>
            <a:ext cx="5426038" cy="32204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59380" y="3389986"/>
            <a:ext cx="1348785" cy="519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Show Results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59541" y="3519903"/>
            <a:ext cx="134878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SQL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731987" y="3519903"/>
            <a:ext cx="134878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 Query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0337" y="4333280"/>
            <a:ext cx="5456101" cy="2059484"/>
          </a:xfrm>
          <a:prstGeom prst="roundRect">
            <a:avLst>
              <a:gd name="adj" fmla="val 720"/>
            </a:avLst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9156" y="4392315"/>
            <a:ext cx="5258462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SQL Pattern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9156" y="4613077"/>
            <a:ext cx="5258462" cy="702866"/>
          </a:xfrm>
          <a:prstGeom prst="roundRect">
            <a:avLst>
              <a:gd name="adj" fmla="val 2110"/>
            </a:avLst>
          </a:prstGeom>
          <a:solidFill>
            <a:srgbClr val="00A0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4295" y="4613077"/>
            <a:ext cx="5268185" cy="702866"/>
          </a:xfrm>
          <a:prstGeom prst="roundRect">
            <a:avLst>
              <a:gd name="adj" fmla="val 2110"/>
            </a:avLst>
          </a:prstGeom>
          <a:solidFill>
            <a:srgbClr val="00A0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07819" y="4711898"/>
            <a:ext cx="5021137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00A0E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00A0E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name LIKE '%search%'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00A0E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OR branch LIKE '%search%'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D73A49"/>
                </a:solidFill>
                <a:highlight>
                  <a:srgbClr val="00A0E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OR course LIKE '%search%';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222745" y="4392315"/>
            <a:ext cx="5313825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PHP: Capture &amp; Sanitize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22745" y="4613077"/>
            <a:ext cx="5313825" cy="1713309"/>
          </a:xfrm>
          <a:prstGeom prst="roundRect">
            <a:avLst>
              <a:gd name="adj" fmla="val 86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17884" y="4613077"/>
            <a:ext cx="5323548" cy="1713309"/>
          </a:xfrm>
          <a:prstGeom prst="roundRect">
            <a:avLst>
              <a:gd name="adj" fmla="val 86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41408" y="4711898"/>
            <a:ext cx="5076500" cy="1515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$search = '';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(isset($_GET['q'])) {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$search = trim($_GET['q']);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$like = '%' . $search . '%';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$pdo-&gt;prepare(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"SELECT * FROM students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WHERE name LIKE ?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OR branch LIKE ?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OR course LIKE ?"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$stmt-&gt;execute([$like,$like,$like]);</a:t>
            </a:r>
            <a:endParaRPr lang="en-US" sz="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06A4CC6-FFB0-D49B-75E9-4E9187225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7483"/>
            <a:ext cx="1436949" cy="226913"/>
          </a:xfrm>
          <a:prstGeom prst="roundRect">
            <a:avLst>
              <a:gd name="adj" fmla="val 688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9558" y="558800"/>
            <a:ext cx="104177" cy="1041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95824" y="536476"/>
            <a:ext cx="1734102" cy="14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— SEARCH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1475" y="765373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Code: Search Form HTML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661475" y="1326158"/>
            <a:ext cx="11478330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this search bar above your student table. It submits via GET so the query stays in the URL — bookmarkable and shareable.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1475" y="1627783"/>
            <a:ext cx="10868745" cy="4171255"/>
          </a:xfrm>
          <a:prstGeom prst="roundRect">
            <a:avLst>
              <a:gd name="adj" fmla="val 46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5026" y="1627783"/>
            <a:ext cx="10881643" cy="4171255"/>
          </a:xfrm>
          <a:prstGeom prst="roundRect">
            <a:avLst>
              <a:gd name="adj" fmla="val 46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7740" y="1757958"/>
            <a:ext cx="10556214" cy="3910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Search Bar (Bootstrap 5) --&gt;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method="GET" action="students.php" class="d-flex mb-3"&gt;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type="search"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name="q"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class="form-control me-2"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placeholder="Search by name, branch or course..."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value="&lt;?= htmlspecialchars($search) ?&gt;"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&gt;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class="btn btn-primary" type="submit"&gt;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 class="bi bi-search"&gt;&lt;/i&gt; Search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Show result count --&gt;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 if ($search): ?&gt;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&lt;p class="text-muted"&gt;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for: &lt;strong&gt;&lt;?= htmlspecialchars($search) ?&gt;&lt;/strong&gt;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(rowCount() ?&gt; found)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&lt;/p&gt;</a:t>
            </a:r>
            <a:endParaRPr lang="en-US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 endif; ?&gt;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1475" y="5914430"/>
            <a:ext cx="10868745" cy="446088"/>
          </a:xfrm>
          <a:prstGeom prst="roundRect">
            <a:avLst>
              <a:gd name="adj" fmla="val 438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47" y="6090245"/>
            <a:ext cx="162715" cy="1301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84533" y="6049466"/>
            <a:ext cx="10925100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use </a:t>
            </a:r>
            <a:r>
              <a:rPr lang="en-US" sz="10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htmlspecialchars()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echoing user input back into HTML to prevent XSS attacks.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C5FF7E-5033-6F51-641B-A0A159EE7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3355"/>
            <a:ext cx="2118168" cy="317302"/>
          </a:xfrm>
          <a:prstGeom prst="roundRect">
            <a:avLst>
              <a:gd name="adj" fmla="val 6255"/>
            </a:avLst>
          </a:prstGeom>
          <a:noFill/>
          <a:ln/>
          <a:effectLst>
            <a:outerShdw blurRad="101600" dist="50800" dir="16200000" algn="bl" rotWithShape="0">
              <a:srgbClr val="00ADE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702965"/>
            <a:ext cx="252932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r>
              <a:rPr lang="en-US" sz="10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MISSION + 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</a:t>
            </a:r>
            <a:r>
              <a:rPr lang="en-US" sz="10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3673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2 Mission: Implement Student Search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966813"/>
            <a:ext cx="579621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 Requirements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396927"/>
            <a:ext cx="5796214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 search form above your student list table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PHP + SQL to filter results using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a "no results found" message when the query returns zero rows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 the search term in the input field after submission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794224"/>
            <a:ext cx="579621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4224338"/>
            <a:ext cx="5796214" cy="1116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across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name, branch, and course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simultaneously using a single query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Bonus: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Highlight the matching keyword inside the table results using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&lt;mark&gt;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7452" y="1987550"/>
            <a:ext cx="4669018" cy="13216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27994" y="2171898"/>
            <a:ext cx="42241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Empty State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27994" y="2595662"/>
            <a:ext cx="42241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no rows returned, show: </a:t>
            </a:r>
            <a:r>
              <a:rPr lang="en-US" sz="13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"No students found matching your search."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7452" y="3474541"/>
            <a:ext cx="4669018" cy="13216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27994" y="3658890"/>
            <a:ext cx="42241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Highlight Hint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27994" y="4082653"/>
            <a:ext cx="42241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str_replace($search, "&lt;mark&gt;$search&lt;/mark&gt;", $row['name'])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7452" y="4961533"/>
            <a:ext cx="4669018" cy="105707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27994" y="5145881"/>
            <a:ext cx="42241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 Hint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127994" y="5569645"/>
            <a:ext cx="42241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$stmt-&gt;rowCount()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show total results found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BCB539-F4CF-8FA7-4CE9-EB1B35BCF2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609005"/>
            <a:ext cx="2415023" cy="310952"/>
          </a:xfrm>
          <a:prstGeom prst="roundRect">
            <a:avLst>
              <a:gd name="adj" fmla="val 638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332577" y="698302"/>
            <a:ext cx="132255" cy="13225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530910" y="658614"/>
            <a:ext cx="2627842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— PROJECT POLISH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233360" y="98603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Polish: Before vs. After</a:t>
            </a:r>
            <a:endParaRPr lang="en-US" sz="3250" dirty="0"/>
          </a:p>
        </p:txBody>
      </p:sp>
      <p:sp>
        <p:nvSpPr>
          <p:cNvPr id="7" name="Shape 4"/>
          <p:cNvSpPr/>
          <p:nvPr/>
        </p:nvSpPr>
        <p:spPr>
          <a:xfrm>
            <a:off x="5233360" y="1750814"/>
            <a:ext cx="6296860" cy="4498181"/>
          </a:xfrm>
          <a:prstGeom prst="roundRect">
            <a:avLst>
              <a:gd name="adj" fmla="val 5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233360" y="1750814"/>
            <a:ext cx="6296860" cy="2249091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98655" y="1916112"/>
            <a:ext cx="596627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Before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98655" y="2280146"/>
            <a:ext cx="5966271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HTML table, no Bootstrap classes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icons anywhere on the page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default hyperlinks as nav items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dashboard stats — just a raw list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empty-state messages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3999905"/>
            <a:ext cx="6296860" cy="2249091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233360" y="3999905"/>
            <a:ext cx="6296860" cy="19050"/>
          </a:xfrm>
          <a:prstGeom prst="roundRect">
            <a:avLst>
              <a:gd name="adj" fmla="val 13022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98655" y="4165203"/>
            <a:ext cx="596627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After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98655" y="4529237"/>
            <a:ext cx="5966271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table-striped table-hover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avatar column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Icons on every button and nav link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Navbar with active states and dropdown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Stats cards at top: Total Students, New This Week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empty state with a call-to-action button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5BA0DA-1E3F-436E-C60A-B08D096B0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8673"/>
            <a:ext cx="1577043" cy="209054"/>
          </a:xfrm>
          <a:prstGeom prst="roundRect">
            <a:avLst>
              <a:gd name="adj" fmla="val 7009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4696" y="554335"/>
            <a:ext cx="97629" cy="97631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1140" y="535285"/>
            <a:ext cx="1893741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— LIVE CODING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1475" y="743744"/>
            <a:ext cx="10868745" cy="38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Code: Dashboard Stats Cards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1475" y="1260475"/>
            <a:ext cx="11478330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this Bootstrap card row at the top of your dashboard. It's the first thing the client sees — make it count.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61475" y="1531640"/>
            <a:ext cx="10868745" cy="4827687"/>
          </a:xfrm>
          <a:prstGeom prst="roundRect">
            <a:avLst>
              <a:gd name="adj" fmla="val 37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5423" y="1531640"/>
            <a:ext cx="10880850" cy="4827687"/>
          </a:xfrm>
          <a:prstGeom prst="roundRect">
            <a:avLst>
              <a:gd name="adj" fmla="val 37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8017" y="1653679"/>
            <a:ext cx="10575660" cy="458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Fetch total count --&gt;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$total = $pdo-&gt;query("SELECT COUNT(*) FROM students")-&gt;fetchColumn();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$recent = $pdo-&gt;query(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"SELECT COUNT(*) FROM students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WHERE created_at &gt;= DATE_SUB(NOW(), INTERVAL 7 DAY)"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)-&gt;fetchColumn();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class="row g-3 mb-4"&gt;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&lt;div class="col-md-4"&gt;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&lt;div class="card border-0 shadow-sm"&gt;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&lt;div class="card-body"&gt;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&lt;h6 class="text-muted"&gt;Total Students&lt;/h6&gt;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&lt;h2 class="fw-bold text-primary"&gt;&lt;?= $total ?&gt;&lt;/h2&gt;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&lt;/div&gt;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&lt;/div&gt;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&lt;/div&gt;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&lt;div class="col-md-4"&gt;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&lt;div class="card border-0 shadow-sm"&gt;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&lt;div class="card-body"&gt;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&lt;h6 class="text-muted"&gt;Added This Week&lt;/h6&gt;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&lt;h2 class="fw-bold text-success"&gt;&lt;?= $recent ?&gt;&lt;/h2&gt;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&lt;/div&gt;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&lt;/div&gt;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&lt;/div&gt;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9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3C4EBF-A40D-752B-ED79-95B9C99CC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32458"/>
            <a:ext cx="2118168" cy="317302"/>
          </a:xfrm>
          <a:prstGeom prst="roundRect">
            <a:avLst>
              <a:gd name="adj" fmla="val 6255"/>
            </a:avLst>
          </a:prstGeom>
          <a:noFill/>
          <a:ln/>
          <a:effectLst>
            <a:outerShdw blurRad="101600" dist="50800" dir="16200000" algn="bl" rotWithShape="0">
              <a:srgbClr val="00ADE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982067"/>
            <a:ext cx="252932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r>
              <a:rPr lang="en-US" sz="10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MISSION + 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</a:t>
            </a:r>
            <a:r>
              <a:rPr lang="en-US" sz="10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3158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3 Mission: Improve the Student Dashboard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245916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 Requirements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676029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Bootstrap 5 navbar with active link highlighting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Bootstrap Icons to all buttons: Add, Edit, Delete, Search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raw table with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table-striped table-hover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student avatar thumbnail in the table's first column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layout responsive on mobile using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col-md-*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245916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2676029"/>
            <a:ext cx="5232666" cy="170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"Total Students"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 card on the dashboard using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Bonus: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 a "Recent Registrations" widget showing the last 5 students added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Super Bonus: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 a CSS fade-in animation when the dashboard loads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3904" y="4565452"/>
            <a:ext cx="5232666" cy="1174055"/>
          </a:xfrm>
          <a:prstGeom prst="roundRect">
            <a:avLst>
              <a:gd name="adj" fmla="val 211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4817864"/>
            <a:ext cx="206667" cy="1652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41160" y="4755555"/>
            <a:ext cx="45301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Icons CDN: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https://cdn.jsdelivr.net/npm/bootstrap-icons/font/bootstrap-icons.css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44CD05-68E3-364B-B646-0CC9AAD7E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58987"/>
            <a:ext cx="2440919" cy="310952"/>
          </a:xfrm>
          <a:prstGeom prst="roundRect">
            <a:avLst>
              <a:gd name="adj" fmla="val 638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0691" y="1348284"/>
            <a:ext cx="132255" cy="13225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9024" y="1308596"/>
            <a:ext cx="2653738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 — PROJECT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163601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to Review a Project Before Delivery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61475" y="240079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developers don't just build — they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Before any demo or client handoff, run through this checklist systematically.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51448"/>
            <a:ext cx="330688" cy="3306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8830" y="2908300"/>
            <a:ext cx="29477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 Validation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98830" y="3265984"/>
            <a:ext cx="29477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form has server-side validation. Empty fields and wrong types show clear error messages.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2851448"/>
            <a:ext cx="330688" cy="3306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0568" y="2908300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Broken Links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90568" y="3265984"/>
            <a:ext cx="29478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every nav item, every button. A broken link in a demo kills credibility instantly.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5050" y="2851448"/>
            <a:ext cx="330688" cy="3306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82406" y="2908300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Empty States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582406" y="3265984"/>
            <a:ext cx="29478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the page look like with zero students? Show a friendly message, not a blank table.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90529"/>
            <a:ext cx="330688" cy="3306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98830" y="4447381"/>
            <a:ext cx="29477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View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198830" y="4805065"/>
            <a:ext cx="29477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DevTools → Toggle Device Toolbar. Does it still look good on a phone?</a:t>
            </a:r>
            <a:endParaRPr lang="en-US" sz="13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3213" y="4390529"/>
            <a:ext cx="330688" cy="3306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0568" y="4447381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Session Guard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890568" y="4805065"/>
            <a:ext cx="29478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out and try accessing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dashboard.php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directly. You must be redirected to login.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F3EB969-3FD0-912F-EA16-EE90F8CD43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97756"/>
            <a:ext cx="2118168" cy="317302"/>
          </a:xfrm>
          <a:prstGeom prst="roundRect">
            <a:avLst>
              <a:gd name="adj" fmla="val 6255"/>
            </a:avLst>
          </a:prstGeom>
          <a:noFill/>
          <a:ln/>
          <a:effectLst>
            <a:outerShdw blurRad="101600" dist="50800" dir="16200000" algn="bl" rotWithShape="0">
              <a:srgbClr val="00ADE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147366"/>
            <a:ext cx="252932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r>
              <a:rPr lang="en-US" sz="10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MISSION + 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</a:t>
            </a:r>
            <a:r>
              <a:rPr lang="en-US" sz="10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48113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4 Mission: Review Another Team's Project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411214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 — Exchange Laptops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841327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your laptop with another team. You have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 minutes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review their project as if you were the client receiving it for the first time.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784005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every page and every link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to break the search with special characters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an oversized or wrong file type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Attempt to access the dashboard without logging in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mobile responsiveness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411214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Challenge: Find 5 Improvements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2841327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down exactly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specific improvements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other team should make before tomorrow's demo. Be constructive and precise: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3904" y="3821212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65914" y="385221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841259" y="3878064"/>
            <a:ext cx="19755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What's broken?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23521" y="3821212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85531" y="385221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60876" y="3878064"/>
            <a:ext cx="19756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What's missing?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3904" y="4523978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65914" y="455498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841259" y="4580830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could be clearer?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3904" y="5082084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 back the laptop with your written feedback. The other team has 5 minutes to fix the top priority item.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3CF595-37D2-6E46-0436-B5B54F0E3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2931"/>
            <a:ext cx="826670" cy="219670"/>
          </a:xfrm>
          <a:prstGeom prst="roundRect">
            <a:avLst>
              <a:gd name="adj" fmla="val 6776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5887" y="630138"/>
            <a:ext cx="1287430" cy="145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🐛 BUG HUNT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49809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 the Bug — 5 Broken Things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376958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Student Management System has </a:t>
            </a: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five real bugs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Can you find them all before the reveal?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55167"/>
            <a:ext cx="10868745" cy="744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9150" y="1910953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63222" y="1791891"/>
            <a:ext cx="1013027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Broken Upload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63222" y="2041426"/>
            <a:ext cx="1013027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uploads silently fail. No error. No file saved. </a:t>
            </a:r>
            <a:r>
              <a:rPr lang="en-US" sz="9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missing from the form tag?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92375"/>
            <a:ext cx="10868745" cy="744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9150" y="2748161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63222" y="2629098"/>
            <a:ext cx="1013027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Wrong Search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263222" y="2878634"/>
            <a:ext cx="1013027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returns every student regardless of the keyword. </a:t>
            </a:r>
            <a:r>
              <a:rPr lang="en-US" sz="9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wrong with the SQL query?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29583"/>
            <a:ext cx="10868745" cy="7442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9150" y="3585369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63222" y="3466306"/>
            <a:ext cx="1013027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Image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263222" y="3715841"/>
            <a:ext cx="1013027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profile shows a broken image icon. </a:t>
            </a:r>
            <a:r>
              <a:rPr lang="en-US" sz="9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doesn't the fallback default image appear?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166791"/>
            <a:ext cx="10868745" cy="7442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9150" y="4422577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263222" y="4303514"/>
            <a:ext cx="1013027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Broken Navigation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263222" y="4553049"/>
            <a:ext cx="1013027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"Edit Student" link throws a 404. </a:t>
            </a:r>
            <a:r>
              <a:rPr lang="en-US" sz="9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wrong with the URL construction?</a:t>
            </a:r>
            <a:endParaRPr lang="en-US" sz="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03998"/>
            <a:ext cx="10868745" cy="7442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9150" y="5259784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263222" y="5140722"/>
            <a:ext cx="1013027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Session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263222" y="5390257"/>
            <a:ext cx="1013027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 access </a:t>
            </a: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dashboard.php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without logging in. </a:t>
            </a:r>
            <a:r>
              <a:rPr lang="en-US" sz="9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single line is missing at the top of the file?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61475" y="5852815"/>
            <a:ext cx="10868745" cy="412155"/>
          </a:xfrm>
          <a:prstGeom prst="roundRect">
            <a:avLst>
              <a:gd name="adj" fmla="val 4514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95" y="6019899"/>
            <a:ext cx="154976" cy="12402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64491" y="5976739"/>
            <a:ext cx="1095129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 reveals each bug with the corrected code snippet after students have had 5 minutes to discuss in pairs.</a:t>
            </a:r>
            <a:endParaRPr lang="en-US" sz="9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F12FB70-8C9B-A91E-AF39-64C6FF416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468908"/>
            <a:ext cx="1107750" cy="250825"/>
          </a:xfrm>
          <a:prstGeom prst="roundRect">
            <a:avLst>
              <a:gd name="adj" fmla="val 6726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45809" y="511076"/>
            <a:ext cx="1548667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 BUILD SPRINT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767457"/>
            <a:ext cx="6296860" cy="878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30-Minute Build Sprint — Client Demo Tomorrow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61475" y="1825129"/>
            <a:ext cx="690644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your final window to polish your project before the big day. Work fast, work smart.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167533"/>
            <a:ext cx="702848" cy="8434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3779" y="2308027"/>
            <a:ext cx="547455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 Bugs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483779" y="2599234"/>
            <a:ext cx="547455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the issues found during peer review first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010991"/>
            <a:ext cx="702848" cy="8434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83779" y="3151485"/>
            <a:ext cx="547455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Polish UI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483779" y="3442692"/>
            <a:ext cx="547455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Icons, cards, spacing, colors — make it look professional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854450"/>
            <a:ext cx="702848" cy="8434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83779" y="3994944"/>
            <a:ext cx="547455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Everything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483779" y="4286151"/>
            <a:ext cx="547455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CRUD, login, upload, search, mobile view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697909"/>
            <a:ext cx="702848" cy="8434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83779" y="4838402"/>
            <a:ext cx="547455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Push to GitHub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483779" y="5129609"/>
            <a:ext cx="547455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with a meaningful message before time is up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61475" y="5675709"/>
            <a:ext cx="6296860" cy="713284"/>
          </a:xfrm>
          <a:prstGeom prst="roundRect">
            <a:avLst>
              <a:gd name="adj" fmla="val 2956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65" y="5868095"/>
            <a:ext cx="175712" cy="14049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18167" y="5830292"/>
            <a:ext cx="569967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 30-minute timer is running. Your project must be demo-ready when it ends. No extensions tomorrow.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D1404CC-6839-F4F5-805B-6A91B33A5F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77775" y="70218"/>
            <a:ext cx="1074028" cy="7044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5959"/>
            <a:ext cx="1734896" cy="317302"/>
          </a:xfrm>
          <a:prstGeom prst="roundRect">
            <a:avLst>
              <a:gd name="adj" fmla="val 6255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575568"/>
            <a:ext cx="214604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🎤 DEMO PREPARATION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093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Prepare Tomorrow's 3-Minute Demo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822946"/>
            <a:ext cx="466901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team prepares a structured walkthrough. The trainer will review your demo flow before you present. Think of it as a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pitch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just a code show-and-tell.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80283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3064768"/>
            <a:ext cx="2251812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1475" y="3185517"/>
            <a:ext cx="225181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1475" y="3609280"/>
            <a:ext cx="225181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problem does it solve? Who is it for?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78582" y="280283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78582" y="3064768"/>
            <a:ext cx="2251912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78582" y="3185517"/>
            <a:ext cx="225191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Walkthrough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78582" y="3609280"/>
            <a:ext cx="225191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demo: login → CRUD → upload → 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1475" y="442783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4689773"/>
            <a:ext cx="2251812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1475" y="4810522"/>
            <a:ext cx="225181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1475" y="5234285"/>
            <a:ext cx="225181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Briefly explain your file structure and DB schema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78582" y="442783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78582" y="4689773"/>
            <a:ext cx="2251912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78582" y="4810522"/>
            <a:ext cx="2251912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&amp; Learning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78582" y="5492750"/>
            <a:ext cx="225191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thing that was hard and how you solved 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21197" y="1674118"/>
            <a:ext cx="6034333" cy="4657923"/>
          </a:xfrm>
          <a:prstGeom prst="roundRect">
            <a:avLst>
              <a:gd name="adj" fmla="val 533"/>
            </a:avLst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86491" y="1839416"/>
            <a:ext cx="5703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 Day Rules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86491" y="2263180"/>
            <a:ext cx="5703745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minutes max — practice to a timer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team member must speak at least once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on localhost — no slides allowed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ready to answer technical questions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 will ask: </a:t>
            </a:r>
            <a:r>
              <a:rPr lang="en-US" sz="13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"How would you add X feature?"</a:t>
            </a:r>
            <a:endParaRPr lang="en-US" sz="13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F190982-230F-DD3B-99CD-1B10F69C7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1903"/>
            <a:ext cx="1328208" cy="270272"/>
          </a:xfrm>
          <a:prstGeom prst="roundRect">
            <a:avLst>
              <a:gd name="adj" fmla="val 6609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0769" y="666552"/>
            <a:ext cx="175920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 INTERVIEW QUIZ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4575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Quick-Fire Interview Questions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611809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real questions you'll face in internship and job interviews. Answer in 30 seconds each — no notes.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1988741"/>
            <a:ext cx="5367402" cy="1062930"/>
          </a:xfrm>
          <a:prstGeom prst="roundRect">
            <a:avLst>
              <a:gd name="adj" fmla="val 210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0299" y="2137569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0299" y="2450405"/>
            <a:ext cx="50697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purpose of file uploads in a web application? Give one real-world example.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62818" y="1988741"/>
            <a:ext cx="5367402" cy="1062930"/>
          </a:xfrm>
          <a:prstGeom prst="roundRect">
            <a:avLst>
              <a:gd name="adj" fmla="val 210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11643" y="2137569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11643" y="2450405"/>
            <a:ext cx="50697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must you validate uploaded files on the server? What could go wrong if you don't?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475" y="3185616"/>
            <a:ext cx="5367402" cy="1062930"/>
          </a:xfrm>
          <a:prstGeom prst="roundRect">
            <a:avLst>
              <a:gd name="adj" fmla="val 210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0299" y="3334445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0299" y="3647281"/>
            <a:ext cx="50697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purpose of PHP sessions? How do you start and destroy one?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62818" y="3185616"/>
            <a:ext cx="5367402" cy="1062930"/>
          </a:xfrm>
          <a:prstGeom prst="roundRect">
            <a:avLst>
              <a:gd name="adj" fmla="val 210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11643" y="3334445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Q4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11643" y="3647281"/>
            <a:ext cx="506975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difference between CRUD operations and authentication?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1475" y="4449465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🔮</a:t>
            </a:r>
            <a:r>
              <a:rPr lang="en-US" sz="1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Predict the Output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1475" y="4882852"/>
            <a:ext cx="10868745" cy="976313"/>
          </a:xfrm>
          <a:prstGeom prst="roundRect">
            <a:avLst>
              <a:gd name="adj" fmla="val 228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4034" y="4882852"/>
            <a:ext cx="10883628" cy="976313"/>
          </a:xfrm>
          <a:prstGeom prst="roundRect">
            <a:avLst>
              <a:gd name="adj" fmla="val 228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0064" y="5031680"/>
            <a:ext cx="1051156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$search = "Ali";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$like   = "%" . $search . "%";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$like;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6682" y="6009878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this print? Why does it matter in a SQL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query?</a:t>
            </a:r>
            <a:endParaRPr lang="en-US" sz="11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00C38B5-B550-5D8F-28ED-59CDE0345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68102"/>
            <a:ext cx="1279195" cy="317302"/>
          </a:xfrm>
          <a:prstGeom prst="roundRect">
            <a:avLst>
              <a:gd name="adj" fmla="val 6255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217712"/>
            <a:ext cx="169034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ASSIGNMENT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5514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Tonight's Assignment: Final Project Preparation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481560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Required — Due Before Demo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911673"/>
            <a:ext cx="5232666" cy="2406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all features: CRUD + Login + Upload + Search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every bug identified during peer review today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your UI — use Bootstrap cards, icons, and responsive layout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session guards to every protected page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final code to GitHub with a clean commit message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your 3-minute demo script — practice it aloud at least twice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481560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 Points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2911673"/>
            <a:ext cx="5232666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CSS fade-in or slide-up animation to cards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better dashboard with a "Recent Registrations" table widget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Bootstrap Icons throughout the entire application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client-side image preview before upload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3904" y="4594324"/>
            <a:ext cx="5232666" cy="909439"/>
          </a:xfrm>
          <a:prstGeom prst="roundRect">
            <a:avLst>
              <a:gd name="adj" fmla="val 272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4846737"/>
            <a:ext cx="206667" cy="1652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41160" y="4784427"/>
            <a:ext cx="45301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GitHub commit history IS your portfolio. Push clean, descriptive commits — future employers will read them.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84F8E7-66F5-7EB9-5D7D-22869FD66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655439"/>
            <a:ext cx="848398" cy="177998"/>
          </a:xfrm>
          <a:prstGeom prst="roundRect">
            <a:avLst>
              <a:gd name="adj" fmla="val 724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25965" y="687685"/>
            <a:ext cx="1329002" cy="11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🏁 DAY 12 RECAP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475" y="861318"/>
            <a:ext cx="6296860" cy="671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Today's Achievement — You Built Something Real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61475" y="1638002"/>
            <a:ext cx="6296860" cy="958850"/>
          </a:xfrm>
          <a:prstGeom prst="roundRect">
            <a:avLst>
              <a:gd name="adj" fmla="val 168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8926" y="1745456"/>
            <a:ext cx="322453" cy="322461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625" y="1834158"/>
            <a:ext cx="145054" cy="1450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8926" y="2137767"/>
            <a:ext cx="608195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Profile Photos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68926" y="2347516"/>
            <a:ext cx="608195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upload with type &amp; size validation, stored in </a:t>
            </a: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uploads/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661475" y="2666702"/>
            <a:ext cx="6296860" cy="958850"/>
          </a:xfrm>
          <a:prstGeom prst="roundRect">
            <a:avLst>
              <a:gd name="adj" fmla="val 168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68926" y="2774156"/>
            <a:ext cx="322453" cy="322461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625" y="2862858"/>
            <a:ext cx="145054" cy="1450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926" y="3166467"/>
            <a:ext cx="608195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Student Search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768926" y="3376216"/>
            <a:ext cx="608195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</a:t>
            </a: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 filtering across name, branch, and course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661475" y="3695402"/>
            <a:ext cx="6296860" cy="958850"/>
          </a:xfrm>
          <a:prstGeom prst="roundRect">
            <a:avLst>
              <a:gd name="adj" fmla="val 168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68926" y="3802856"/>
            <a:ext cx="322453" cy="322461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625" y="3891558"/>
            <a:ext cx="145054" cy="14505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8926" y="4195167"/>
            <a:ext cx="608195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Better Dashboard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768926" y="4404916"/>
            <a:ext cx="608195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Stats cards, Bootstrap Icons, responsive Bootstrap 5 layout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661475" y="4724102"/>
            <a:ext cx="6296860" cy="958850"/>
          </a:xfrm>
          <a:prstGeom prst="roundRect">
            <a:avLst>
              <a:gd name="adj" fmla="val 168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68926" y="4831556"/>
            <a:ext cx="322453" cy="322461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625" y="4920258"/>
            <a:ext cx="145054" cy="14505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8926" y="5223867"/>
            <a:ext cx="608195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Project Review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68926" y="5433616"/>
            <a:ext cx="608195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testing, bug hunting, and pre-demo quality checklist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661475" y="5761534"/>
            <a:ext cx="12700" cy="440928"/>
          </a:xfrm>
          <a:prstGeom prst="roundRect">
            <a:avLst>
              <a:gd name="adj" fmla="val 59999"/>
            </a:avLst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822701" y="5840115"/>
            <a:ext cx="6135633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Tomorrow you'll present your project like a professional software engineer. You're not a student anymore — you're a developer with a live, working application. Own it.</a:t>
            </a:r>
            <a:endParaRPr lang="en-US" sz="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C16471A-30CC-CE98-5931-4C7CF2ADDD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2739</Words>
  <Application>Microsoft Macintosh PowerPoint</Application>
  <PresentationFormat>Widescreen</PresentationFormat>
  <Paragraphs>377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Twemoji Mozilla</vt:lpstr>
      <vt:lpstr>Inter</vt:lpstr>
      <vt:lpstr>Consolas</vt:lpstr>
      <vt:lpstr>Arial</vt:lpstr>
      <vt:lpstr>Inter Bold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Office767</cp:lastModifiedBy>
  <cp:revision>3</cp:revision>
  <dcterms:created xsi:type="dcterms:W3CDTF">2026-07-08T14:31:49Z</dcterms:created>
  <dcterms:modified xsi:type="dcterms:W3CDTF">2026-07-08T14:36:56Z</dcterms:modified>
</cp:coreProperties>
</file>